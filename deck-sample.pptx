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</p:defaultTextStyle>
</p:presentation>
</file>

<file path=ppt/_rels/presentation.xml.rels><?xml version="1.0" encoding="UTF-8" standalone="yes"?>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theme" Target="theme/theme1.xml"/>
</Relationships>
</file>

<file path=ppt/slideLayouts/_rels/slideLayout1.xml.rels><?xml version="1.0" encoding="UTF-8" standalone="yes"?>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  <a:ea typeface="+mn-ea"/>
        </a:defRPr>
      </a:lvl1pPr>
      <a:lvl2pPr>
        <a:defRPr sz="1800">
          <a:solidFill>
            <a:schemeClr val="tx1"/>
          </a:solidFill>
          <a:latin typeface="+mn-lt"/>
          <a:ea typeface="+mn-ea"/>
        </a:defRPr>
      </a:lvl2pPr>
      <a:lvl3pPr>
        <a:defRPr sz="1800">
          <a:solidFill>
            <a:schemeClr val="tx1"/>
          </a:solidFill>
          <a:latin typeface="+mn-lt"/>
          <a:ea typeface="+mn-ea"/>
        </a:defRPr>
      </a:lvl3pPr>
      <a:lvl4pPr>
        <a:defRPr sz="1800">
          <a:solidFill>
            <a:schemeClr val="tx1"/>
          </a:solidFill>
          <a:latin typeface="+mn-lt"/>
          <a:ea typeface="+mn-ea"/>
        </a:defRPr>
      </a:lvl4pPr>
      <a:lvl5pPr>
        <a:defRPr sz="1800">
          <a:solidFill>
            <a:schemeClr val="tx1"/>
          </a:solidFill>
          <a:latin typeface="+mn-lt"/>
          <a:ea typeface="+mn-ea"/>
        </a:defRPr>
      </a:lvl5pPr>
      <a:lvl6pPr>
        <a:defRPr sz="1800">
          <a:solidFill>
            <a:schemeClr val="tx1"/>
          </a:solidFill>
          <a:latin typeface="+mn-lt"/>
          <a:ea typeface="+mn-ea"/>
        </a:defRPr>
      </a:lvl6pPr>
      <a:lvl7pPr>
        <a:defRPr sz="1800">
          <a:solidFill>
            <a:schemeClr val="tx1"/>
          </a:solidFill>
          <a:latin typeface="+mn-lt"/>
          <a:ea typeface="+mn-ea"/>
        </a:defRPr>
      </a:lvl7pPr>
      <a:lvl8pPr>
        <a:defRPr sz="1800">
          <a:solidFill>
            <a:schemeClr val="tx1"/>
          </a:solidFill>
          <a:latin typeface="+mn-lt"/>
          <a:ea typeface="+mn-ea"/>
        </a:defRPr>
      </a:lvl8pPr>
      <a:lvl9pPr>
        <a:defRPr sz="1800">
          <a:solidFill>
            <a:schemeClr val="tx1"/>
          </a:solidFill>
          <a:latin typeface="+mn-lt"/>
          <a:ea typeface="+mn-ea"/>
        </a:defRPr>
      </a:lvl9pPr>
    </p:titleStyle>
    <p:bodyStyle>
      <a:lvl1pPr>
        <a:defRPr sz="1800">
          <a:solidFill>
            <a:schemeClr val="tx1"/>
          </a:solidFill>
          <a:latin typeface="+mn-lt"/>
          <a:ea typeface="+mn-ea"/>
        </a:defRPr>
      </a:lvl1pPr>
      <a:lvl2pPr>
        <a:defRPr sz="1800">
          <a:solidFill>
            <a:schemeClr val="tx1"/>
          </a:solidFill>
          <a:latin typeface="+mn-lt"/>
          <a:ea typeface="+mn-ea"/>
        </a:defRPr>
      </a:lvl2pPr>
      <a:lvl3pPr>
        <a:defRPr sz="1800">
          <a:solidFill>
            <a:schemeClr val="tx1"/>
          </a:solidFill>
          <a:latin typeface="+mn-lt"/>
          <a:ea typeface="+mn-ea"/>
        </a:defRPr>
      </a:lvl3pPr>
      <a:lvl4pPr>
        <a:defRPr sz="1800">
          <a:solidFill>
            <a:schemeClr val="tx1"/>
          </a:solidFill>
          <a:latin typeface="+mn-lt"/>
          <a:ea typeface="+mn-ea"/>
        </a:defRPr>
      </a:lvl4pPr>
      <a:lvl5pPr>
        <a:defRPr sz="1800">
          <a:solidFill>
            <a:schemeClr val="tx1"/>
          </a:solidFill>
          <a:latin typeface="+mn-lt"/>
          <a:ea typeface="+mn-ea"/>
        </a:defRPr>
      </a:lvl5pPr>
      <a:lvl6pPr>
        <a:defRPr sz="1800">
          <a:solidFill>
            <a:schemeClr val="tx1"/>
          </a:solidFill>
          <a:latin typeface="+mn-lt"/>
          <a:ea typeface="+mn-ea"/>
        </a:defRPr>
      </a:lvl6pPr>
      <a:lvl7pPr>
        <a:defRPr sz="1800">
          <a:solidFill>
            <a:schemeClr val="tx1"/>
          </a:solidFill>
          <a:latin typeface="+mn-lt"/>
          <a:ea typeface="+mn-ea"/>
        </a:defRPr>
      </a:lvl7pPr>
      <a:lvl8pPr>
        <a:defRPr sz="1800">
          <a:solidFill>
            <a:schemeClr val="tx1"/>
          </a:solidFill>
          <a:latin typeface="+mn-lt"/>
          <a:ea typeface="+mn-ea"/>
        </a:defRPr>
      </a:lvl8pPr>
      <a:lvl9pPr>
        <a:defRPr sz="1800">
          <a:solidFill>
            <a:schemeClr val="tx1"/>
          </a:solidFill>
          <a:latin typeface="+mn-lt"/>
          <a:ea typeface="+mn-ea"/>
        </a:defRPr>
      </a:lvl9pPr>
    </p:bodyStyle>
    <p:otherStyle>
      <a:lvl1pPr>
        <a:defRPr sz="1800">
          <a:solidFill>
            <a:schemeClr val="tx1"/>
          </a:solidFill>
          <a:latin typeface="+mn-lt"/>
          <a:ea typeface="+mn-ea"/>
        </a:defRPr>
      </a:lvl1pPr>
      <a:lvl2pPr>
        <a:defRPr sz="1800">
          <a:solidFill>
            <a:schemeClr val="tx1"/>
          </a:solidFill>
          <a:latin typeface="+mn-lt"/>
          <a:ea typeface="+mn-ea"/>
        </a:defRPr>
      </a:lvl2pPr>
      <a:lvl3pPr>
        <a:defRPr sz="1800">
          <a:solidFill>
            <a:schemeClr val="tx1"/>
          </a:solidFill>
          <a:latin typeface="+mn-lt"/>
          <a:ea typeface="+mn-ea"/>
        </a:defRPr>
      </a:lvl3pPr>
      <a:lvl4pPr>
        <a:defRPr sz="1800">
          <a:solidFill>
            <a:schemeClr val="tx1"/>
          </a:solidFill>
          <a:latin typeface="+mn-lt"/>
          <a:ea typeface="+mn-ea"/>
        </a:defRPr>
      </a:lvl4pPr>
      <a:lvl5pPr>
        <a:defRPr sz="1800">
          <a:solidFill>
            <a:schemeClr val="tx1"/>
          </a:solidFill>
          <a:latin typeface="+mn-lt"/>
          <a:ea typeface="+mn-ea"/>
        </a:defRPr>
      </a:lvl5pPr>
      <a:lvl6pPr>
        <a:defRPr sz="1800">
          <a:solidFill>
            <a:schemeClr val="tx1"/>
          </a:solidFill>
          <a:latin typeface="+mn-lt"/>
          <a:ea typeface="+mn-ea"/>
        </a:defRPr>
      </a:lvl6pPr>
      <a:lvl7pPr>
        <a:defRPr sz="1800">
          <a:solidFill>
            <a:schemeClr val="tx1"/>
          </a:solidFill>
          <a:latin typeface="+mn-lt"/>
          <a:ea typeface="+mn-ea"/>
        </a:defRPr>
      </a:lvl7pPr>
      <a:lvl8pPr>
        <a:defRPr sz="1800">
          <a:solidFill>
            <a:schemeClr val="tx1"/>
          </a:solidFill>
          <a:latin typeface="+mn-lt"/>
          <a:ea typeface="+mn-ea"/>
        </a:defRPr>
      </a:lvl8pPr>
      <a:lvl9pPr>
        <a:defRPr sz="180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Panel"/>
          <p:cNvSpPr txBox="1"/>
          <p:nvPr/>
        </p:nvSpPr>
        <p:spPr>
          <a:xfrm>
            <a:off x="6829425" y="0"/>
            <a:ext cx="5362575" cy="6858000"/>
          </a:xfrm>
          <a:prstGeom prst="rect">
            <a:avLst/>
          </a:prstGeom>
          <a:solidFill>
            <a:srgbClr val="1A1813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12" name="accentBar"/>
          <p:cNvSpPr txBox="1"/>
          <p:nvPr/>
        </p:nvSpPr>
        <p:spPr>
          <a:xfrm>
            <a:off x="6829425" y="0"/>
            <a:ext cx="57150" cy="6858000"/>
          </a:xfrm>
          <a:prstGeom prst="rect">
            <a:avLst/>
          </a:prstGeom>
          <a:solidFill>
            <a:srgbClr val="C8552F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13" name="kicker"/>
          <p:cNvSpPr txBox="1"/>
          <p:nvPr/>
        </p:nvSpPr>
        <p:spPr>
          <a:xfrm>
            <a:off x="838200" y="895350"/>
            <a:ext cx="5334000" cy="2476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200" b="1" i="0" spc="260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CLAUDE CODE </a:t>
            </a:r>
            <a:r>
              <a:rPr lang="ko-KR" altLang="en-US" sz="1200" b="1" i="0" spc="17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／ 입문자 가이드북</a:t>
            </a:r>
          </a:p>
        </p:txBody>
      </p:sp>
      <p:sp>
        <p:nvSpPr>
          <p:cNvPr id="14" name="title"/>
          <p:cNvSpPr txBox="1"/>
          <p:nvPr/>
        </p:nvSpPr>
        <p:spPr>
          <a:xfrm>
            <a:off x="838200" y="1219200"/>
            <a:ext cx="5524500" cy="1733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5925"/>
              </a:lnSpc>
            </a:pPr>
            <a:r>
              <a:rPr lang="ko-KR" altLang="en-US" sz="5100" b="1" i="0" spc="-12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터미널에서</a:t>
            </a:r>
            <a:br/>
            <a:r>
              <a:rPr lang="ko-KR" altLang="en-US" sz="5100" b="1" i="0" spc="-12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일하는 </a:t>
            </a:r>
            <a:r>
              <a:rPr lang="ko-KR" altLang="en-US" sz="5100" b="1" i="0" spc="-120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AI 동료</a:t>
            </a:r>
          </a:p>
        </p:txBody>
      </p:sp>
      <p:sp>
        <p:nvSpPr>
          <p:cNvPr id="15" name="sub"/>
          <p:cNvSpPr txBox="1"/>
          <p:nvPr/>
        </p:nvSpPr>
        <p:spPr>
          <a:xfrm>
            <a:off x="838200" y="3124200"/>
            <a:ext cx="4572000" cy="7048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2250"/>
              </a:lnSpc>
            </a:pPr>
            <a:r>
              <a:rPr lang="ko-KR" altLang="en-US" sz="1425" b="0" i="0" dirty="0">
                <a:solidFill>
                  <a:srgbClr val="4A463C"/>
                </a:solidFill>
                <a:latin typeface="Malgun Gothic"/>
                <a:ea typeface="맑은 고딕"/>
                <a:cs typeface="Malgun Gothic"/>
              </a:rPr>
              <a:t>설치부터 실전 워크플로까지,</a:t>
            </a:r>
            <a:br/>
            <a:r>
              <a:rPr lang="ko-KR" altLang="en-US" sz="1425" b="0" i="0" dirty="0">
                <a:solidFill>
                  <a:srgbClr val="4A463C"/>
                </a:solidFill>
                <a:latin typeface="Malgun Gothic"/>
                <a:ea typeface="맑은 고딕"/>
                <a:cs typeface="Malgun Gothic"/>
              </a:rPr>
              <a:t>처음 쓰는 사람이 일주일 안에 익히는 15가지.</a:t>
            </a:r>
          </a:p>
        </p:txBody>
      </p:sp>
      <p:sp>
        <p:nvSpPr>
          <p:cNvPr id="16" name="rule"/>
          <p:cNvSpPr txBox="1"/>
          <p:nvPr/>
        </p:nvSpPr>
        <p:spPr>
          <a:xfrm>
            <a:off x="838200" y="5314950"/>
            <a:ext cx="419100" cy="19050"/>
          </a:xfrm>
          <a:prstGeom prst="rect">
            <a:avLst/>
          </a:prstGeom>
          <a:solidFill>
            <a:srgbClr val="17150F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17" name="meta"/>
          <p:cNvSpPr txBox="1"/>
          <p:nvPr/>
        </p:nvSpPr>
        <p:spPr>
          <a:xfrm>
            <a:off x="838200" y="5486400"/>
            <a:ext cx="40005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2025"/>
              </a:lnSpc>
            </a:pPr>
            <a:r>
              <a:rPr lang="ko-KR" altLang="en-US" sz="1050" b="1" i="0" spc="6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2026 · 사내 교육자료</a:t>
            </a:r>
            <a:br/>
            <a:r>
              <a:rPr lang="ko-KR" altLang="en-US" sz="1050" b="1" i="0" spc="6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Anthropic Claude Code v2</a:t>
            </a:r>
          </a:p>
        </p:txBody>
      </p:sp>
      <p:sp>
        <p:nvSpPr>
          <p:cNvPr id="18" name="term"/>
          <p:cNvSpPr txBox="1"/>
          <p:nvPr/>
        </p:nvSpPr>
        <p:spPr>
          <a:xfrm>
            <a:off x="7648575" y="2066925"/>
            <a:ext cx="3733800" cy="2733675"/>
          </a:xfrm>
          <a:prstGeom prst="roundRect">
            <a:avLst>
              <a:gd name="adj" fmla="val 3500"/>
            </a:avLst>
          </a:prstGeom>
          <a:solidFill>
            <a:srgbClr val="100F0B"/>
          </a:solidFill>
          <a:ln w="9525" cap="flat">
            <a:solidFill>
              <a:srgbClr val="322E26"/>
            </a:solidFill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19" name="termBar"/>
          <p:cNvSpPr txBox="1"/>
          <p:nvPr/>
        </p:nvSpPr>
        <p:spPr>
          <a:xfrm>
            <a:off x="7658100" y="2076450"/>
            <a:ext cx="3714750" cy="295275"/>
          </a:xfrm>
          <a:prstGeom prst="rect">
            <a:avLst/>
          </a:prstGeom>
          <a:solidFill>
            <a:srgbClr val="221F19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20" name="dot0"/>
          <p:cNvSpPr txBox="1"/>
          <p:nvPr/>
        </p:nvSpPr>
        <p:spPr>
          <a:xfrm>
            <a:off x="7772400" y="2171700"/>
            <a:ext cx="95250" cy="95250"/>
          </a:xfrm>
          <a:prstGeom prst="ellipse">
            <a:avLst/>
          </a:prstGeom>
          <a:solidFill>
            <a:srgbClr val="E05A4D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21" name="dot1"/>
          <p:cNvSpPr txBox="1"/>
          <p:nvPr/>
        </p:nvSpPr>
        <p:spPr>
          <a:xfrm>
            <a:off x="7934325" y="2171700"/>
            <a:ext cx="95250" cy="95250"/>
          </a:xfrm>
          <a:prstGeom prst="ellipse">
            <a:avLst/>
          </a:prstGeom>
          <a:solidFill>
            <a:srgbClr val="E0B23C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22" name="dot2"/>
          <p:cNvSpPr txBox="1"/>
          <p:nvPr/>
        </p:nvSpPr>
        <p:spPr>
          <a:xfrm>
            <a:off x="8096250" y="2171700"/>
            <a:ext cx="95250" cy="95250"/>
          </a:xfrm>
          <a:prstGeom prst="ellipse">
            <a:avLst/>
          </a:prstGeom>
          <a:solidFill>
            <a:srgbClr val="5FB868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23" name="termBody"/>
          <p:cNvSpPr txBox="1"/>
          <p:nvPr/>
        </p:nvSpPr>
        <p:spPr>
          <a:xfrm>
            <a:off x="7858125" y="2562225"/>
            <a:ext cx="3314700" cy="20002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2025"/>
              </a:lnSpc>
            </a:pPr>
            <a:r>
              <a:rPr lang="ko-KR" altLang="en-US" sz="1012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&gt; </a:t>
            </a:r>
            <a:r>
              <a:rPr lang="ko-KR" altLang="en-US" sz="1012" b="0" i="0" dirty="0">
                <a:solidFill>
                  <a:srgbClr val="CFC7B8"/>
                </a:solidFill>
                <a:latin typeface="Consolas"/>
                <a:ea typeface="맑은 고딕"/>
                <a:cs typeface="Consolas"/>
              </a:rPr>
              <a:t>이 프로젝트 구조 설명해줘</a:t>
            </a:r>
          </a:p>
          <a:p>
            <a:pPr algn="l">
              <a:lnSpc>
                <a:spcPts val="2025"/>
              </a:lnSpc>
            </a:pPr>
            <a:r>
              <a:rPr lang="ko-KR" altLang="en-US" sz="1012" b="0" i="0" dirty="0">
                <a:solidFill>
                  <a:srgbClr val="7E7768"/>
                </a:solidFill>
                <a:latin typeface="Consolas"/>
                <a:ea typeface="맑은 고딕"/>
                <a:cs typeface="Consolas"/>
              </a:rPr>
              <a:t>  Read · Grep · Glob …</a:t>
            </a:r>
          </a:p>
          <a:p>
            <a:pPr algn="l">
              <a:lnSpc>
                <a:spcPts val="2025"/>
              </a:lnSpc>
            </a:pPr>
            <a:r>
              <a:rPr lang="ko-KR" altLang="en-US" sz="1012" b="0" i="0" dirty="0">
                <a:solidFill>
                  <a:srgbClr val="8FAF6E"/>
                </a:solidFill>
                <a:latin typeface="Consolas"/>
                <a:ea typeface="맑은 고딕"/>
                <a:cs typeface="Consolas"/>
              </a:rPr>
              <a:t>  ✓ 24개 파일 분석 완료</a:t>
            </a:r>
          </a:p>
          <a:p>
            <a:pPr algn="l">
              <a:lnSpc>
                <a:spcPts val="2025"/>
              </a:lnSpc>
              <a:spcBef>
                <a:spcPts val="750"/>
              </a:spcBef>
            </a:pPr>
            <a:r>
              <a:rPr lang="ko-KR" altLang="en-US" sz="1012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&gt; </a:t>
            </a:r>
            <a:r>
              <a:rPr lang="ko-KR" altLang="en-US" sz="1012" b="0" i="0" dirty="0">
                <a:solidFill>
                  <a:srgbClr val="CFC7B8"/>
                </a:solidFill>
                <a:latin typeface="Consolas"/>
                <a:ea typeface="맑은 고딕"/>
                <a:cs typeface="Consolas"/>
              </a:rPr>
              <a:t>로그인 버그 고치고 테스트해줘</a:t>
            </a:r>
          </a:p>
          <a:p>
            <a:pPr algn="l">
              <a:lnSpc>
                <a:spcPts val="2025"/>
              </a:lnSpc>
            </a:pPr>
            <a:r>
              <a:rPr lang="ko-KR" altLang="en-US" sz="1012" b="0" i="0" dirty="0">
                <a:solidFill>
                  <a:srgbClr val="7E7768"/>
                </a:solidFill>
                <a:latin typeface="Consolas"/>
                <a:ea typeface="맑은 고딕"/>
                <a:cs typeface="Consolas"/>
              </a:rPr>
              <a:t>  Edit auth/login.ts</a:t>
            </a:r>
          </a:p>
          <a:p>
            <a:pPr algn="l">
              <a:lnSpc>
                <a:spcPts val="2025"/>
              </a:lnSpc>
            </a:pPr>
            <a:r>
              <a:rPr lang="ko-KR" altLang="en-US" sz="1012" b="0" i="0" dirty="0">
                <a:solidFill>
                  <a:srgbClr val="8FAF6E"/>
                </a:solidFill>
                <a:latin typeface="Consolas"/>
                <a:ea typeface="맑은 고딕"/>
                <a:cs typeface="Consolas"/>
              </a:rPr>
              <a:t>  ✓ 12 passed</a:t>
            </a:r>
          </a:p>
          <a:p>
            <a:pPr algn="l">
              <a:lnSpc>
                <a:spcPts val="2025"/>
              </a:lnSpc>
              <a:spcBef>
                <a:spcPts val="750"/>
              </a:spcBef>
            </a:pPr>
            <a:r>
              <a:rPr lang="ko-KR" altLang="en-US" sz="1012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&gt; </a:t>
            </a:r>
            <a:r>
              <a:rPr lang="ko-KR" altLang="en-US" sz="1012" b="0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unhead"/>
          <p:cNvSpPr txBox="1"/>
          <p:nvPr/>
        </p:nvSpPr>
        <p:spPr>
          <a:xfrm>
            <a:off x="838200" y="361950"/>
            <a:ext cx="6096000" cy="190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75" b="1" i="0" spc="13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CLAUDE CODE GUIDEBOOK </a:t>
            </a:r>
            <a:r>
              <a:rPr lang="ko-KR" altLang="en-US" sz="975" b="1" i="0" spc="130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／</a:t>
            </a:r>
            <a:r>
              <a:rPr lang="ko-KR" altLang="en-US" sz="975" b="1" i="0" spc="13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 CONTENTS</a:t>
            </a:r>
          </a:p>
        </p:txBody>
      </p:sp>
      <p:sp>
        <p:nvSpPr>
          <p:cNvPr id="25" name="eyebrow"/>
          <p:cNvSpPr txBox="1"/>
          <p:nvPr/>
        </p:nvSpPr>
        <p:spPr>
          <a:xfrm>
            <a:off x="838200" y="685800"/>
            <a:ext cx="3048000" cy="2476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500" b="1" i="0" spc="19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CONTENTS</a:t>
            </a:r>
          </a:p>
        </p:txBody>
      </p:sp>
      <p:sp>
        <p:nvSpPr>
          <p:cNvPr id="26" name="h1"/>
          <p:cNvSpPr txBox="1"/>
          <p:nvPr/>
        </p:nvSpPr>
        <p:spPr>
          <a:xfrm>
            <a:off x="838200" y="990600"/>
            <a:ext cx="3810000" cy="10477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6000" b="1" i="0" spc="-20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목차</a:t>
            </a:r>
          </a:p>
        </p:txBody>
      </p:sp>
      <p:sp>
        <p:nvSpPr>
          <p:cNvPr id="27" name="note"/>
          <p:cNvSpPr txBox="1"/>
          <p:nvPr/>
        </p:nvSpPr>
        <p:spPr>
          <a:xfrm>
            <a:off x="6591300" y="1333500"/>
            <a:ext cx="47625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r">
              <a:lnSpc>
                <a:spcPts val="1875"/>
              </a:lnSpc>
            </a:pPr>
            <a:r>
              <a:rPr lang="ko-KR" altLang="en-US" sz="1050" b="1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기초 → 조작 → 핵심 개념 → 실전 → 확장</a:t>
            </a:r>
            <a:br/>
            <a:r>
              <a:rPr lang="ko-KR" altLang="en-US" sz="1050" b="1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강조 항목은 </a:t>
            </a:r>
            <a:r>
              <a:rPr lang="ko-KR" altLang="en-US" sz="1050" b="1" i="0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입문자가 가장 많이 놓치는</a:t>
            </a:r>
            <a:r>
              <a:rPr lang="ko-KR" altLang="en-US" sz="1050" b="1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 부분</a:t>
            </a:r>
          </a:p>
        </p:txBody>
      </p:sp>
      <p:sp>
        <p:nvSpPr>
          <p:cNvPr id="28" name="tocLine"/>
          <p:cNvSpPr txBox="1"/>
          <p:nvPr/>
        </p:nvSpPr>
        <p:spPr>
          <a:xfrm>
            <a:off x="838200" y="2247900"/>
            <a:ext cx="4991100" cy="9525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29" name="tocNo"/>
          <p:cNvSpPr txBox="1"/>
          <p:nvPr/>
        </p:nvSpPr>
        <p:spPr>
          <a:xfrm>
            <a:off x="876300" y="2428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01</a:t>
            </a:r>
          </a:p>
        </p:txBody>
      </p:sp>
      <p:sp>
        <p:nvSpPr>
          <p:cNvPr id="30" name="tocTitle"/>
          <p:cNvSpPr txBox="1"/>
          <p:nvPr/>
        </p:nvSpPr>
        <p:spPr>
          <a:xfrm>
            <a:off x="1276350" y="2381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클로드 코드란?</a:t>
            </a:r>
          </a:p>
        </p:txBody>
      </p:sp>
      <p:sp>
        <p:nvSpPr>
          <p:cNvPr id="31" name="tocDesc"/>
          <p:cNvSpPr txBox="1"/>
          <p:nvPr/>
        </p:nvSpPr>
        <p:spPr>
          <a:xfrm>
            <a:off x="1276350" y="2657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챗봇과 무엇이 다른가</a:t>
            </a:r>
          </a:p>
        </p:txBody>
      </p:sp>
      <p:sp>
        <p:nvSpPr>
          <p:cNvPr id="32" name="tocLine"/>
          <p:cNvSpPr txBox="1"/>
          <p:nvPr/>
        </p:nvSpPr>
        <p:spPr>
          <a:xfrm>
            <a:off x="838200" y="3009900"/>
            <a:ext cx="4991100" cy="9525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33" name="tocNo"/>
          <p:cNvSpPr txBox="1"/>
          <p:nvPr/>
        </p:nvSpPr>
        <p:spPr>
          <a:xfrm>
            <a:off x="876300" y="3190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02</a:t>
            </a:r>
          </a:p>
        </p:txBody>
      </p:sp>
      <p:sp>
        <p:nvSpPr>
          <p:cNvPr id="34" name="tocTitle"/>
          <p:cNvSpPr txBox="1"/>
          <p:nvPr/>
        </p:nvSpPr>
        <p:spPr>
          <a:xfrm>
            <a:off x="1276350" y="3143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설치와 첫 실행</a:t>
            </a:r>
          </a:p>
        </p:txBody>
      </p:sp>
      <p:sp>
        <p:nvSpPr>
          <p:cNvPr id="35" name="tocDesc"/>
          <p:cNvSpPr txBox="1"/>
          <p:nvPr/>
        </p:nvSpPr>
        <p:spPr>
          <a:xfrm>
            <a:off x="1276350" y="3419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npm · 네이티브 · 로그인</a:t>
            </a:r>
          </a:p>
        </p:txBody>
      </p:sp>
      <p:sp>
        <p:nvSpPr>
          <p:cNvPr id="36" name="tocLine"/>
          <p:cNvSpPr txBox="1"/>
          <p:nvPr/>
        </p:nvSpPr>
        <p:spPr>
          <a:xfrm>
            <a:off x="838200" y="3771900"/>
            <a:ext cx="4991100" cy="9525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37" name="tocNo"/>
          <p:cNvSpPr txBox="1"/>
          <p:nvPr/>
        </p:nvSpPr>
        <p:spPr>
          <a:xfrm>
            <a:off x="876300" y="3952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03</a:t>
            </a:r>
          </a:p>
        </p:txBody>
      </p:sp>
      <p:sp>
        <p:nvSpPr>
          <p:cNvPr id="38" name="tocTitle"/>
          <p:cNvSpPr txBox="1"/>
          <p:nvPr/>
        </p:nvSpPr>
        <p:spPr>
          <a:xfrm>
            <a:off x="1276350" y="3905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기본 사용법</a:t>
            </a:r>
          </a:p>
        </p:txBody>
      </p:sp>
      <p:sp>
        <p:nvSpPr>
          <p:cNvPr id="39" name="tocDesc"/>
          <p:cNvSpPr txBox="1"/>
          <p:nvPr/>
        </p:nvSpPr>
        <p:spPr>
          <a:xfrm>
            <a:off x="1276350" y="4181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@ · ! · # 입력 접두사</a:t>
            </a:r>
          </a:p>
        </p:txBody>
      </p:sp>
      <p:sp>
        <p:nvSpPr>
          <p:cNvPr id="40" name="tocLine"/>
          <p:cNvSpPr txBox="1"/>
          <p:nvPr/>
        </p:nvSpPr>
        <p:spPr>
          <a:xfrm>
            <a:off x="838200" y="4533900"/>
            <a:ext cx="4991100" cy="9525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41" name="tocNo"/>
          <p:cNvSpPr txBox="1"/>
          <p:nvPr/>
        </p:nvSpPr>
        <p:spPr>
          <a:xfrm>
            <a:off x="876300" y="4714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04</a:t>
            </a:r>
          </a:p>
        </p:txBody>
      </p:sp>
      <p:sp>
        <p:nvSpPr>
          <p:cNvPr id="42" name="tocTitle"/>
          <p:cNvSpPr txBox="1"/>
          <p:nvPr/>
        </p:nvSpPr>
        <p:spPr>
          <a:xfrm>
            <a:off x="1276350" y="4667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핵심 단축키</a:t>
            </a:r>
          </a:p>
        </p:txBody>
      </p:sp>
      <p:sp>
        <p:nvSpPr>
          <p:cNvPr id="43" name="tocDesc"/>
          <p:cNvSpPr txBox="1"/>
          <p:nvPr/>
        </p:nvSpPr>
        <p:spPr>
          <a:xfrm>
            <a:off x="1276350" y="4943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Esc를 두려워하지 말 것</a:t>
            </a:r>
          </a:p>
        </p:txBody>
      </p:sp>
      <p:sp>
        <p:nvSpPr>
          <p:cNvPr id="44" name="tocLine"/>
          <p:cNvSpPr txBox="1"/>
          <p:nvPr/>
        </p:nvSpPr>
        <p:spPr>
          <a:xfrm>
            <a:off x="838200" y="5295900"/>
            <a:ext cx="4991100" cy="9525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45" name="tocNo"/>
          <p:cNvSpPr txBox="1"/>
          <p:nvPr/>
        </p:nvSpPr>
        <p:spPr>
          <a:xfrm>
            <a:off x="876300" y="5476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05</a:t>
            </a:r>
          </a:p>
        </p:txBody>
      </p:sp>
      <p:sp>
        <p:nvSpPr>
          <p:cNvPr id="46" name="tocTitle"/>
          <p:cNvSpPr txBox="1"/>
          <p:nvPr/>
        </p:nvSpPr>
        <p:spPr>
          <a:xfrm>
            <a:off x="1276350" y="5429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슬래시 명령어</a:t>
            </a:r>
          </a:p>
        </p:txBody>
      </p:sp>
      <p:sp>
        <p:nvSpPr>
          <p:cNvPr id="47" name="tocDesc"/>
          <p:cNvSpPr txBox="1"/>
          <p:nvPr/>
        </p:nvSpPr>
        <p:spPr>
          <a:xfrm>
            <a:off x="1276350" y="5705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꼭 외울 8개</a:t>
            </a:r>
          </a:p>
        </p:txBody>
      </p:sp>
      <p:sp>
        <p:nvSpPr>
          <p:cNvPr id="48" name="tocLine"/>
          <p:cNvSpPr txBox="1"/>
          <p:nvPr/>
        </p:nvSpPr>
        <p:spPr>
          <a:xfrm>
            <a:off x="6362700" y="2247900"/>
            <a:ext cx="4991100" cy="9525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49" name="tocNo"/>
          <p:cNvSpPr txBox="1"/>
          <p:nvPr/>
        </p:nvSpPr>
        <p:spPr>
          <a:xfrm>
            <a:off x="6400800" y="2428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06</a:t>
            </a:r>
          </a:p>
        </p:txBody>
      </p:sp>
      <p:sp>
        <p:nvSpPr>
          <p:cNvPr id="50" name="tocTitle"/>
          <p:cNvSpPr txBox="1"/>
          <p:nvPr/>
        </p:nvSpPr>
        <p:spPr>
          <a:xfrm>
            <a:off x="6800850" y="2381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CLAUDE.md</a:t>
            </a:r>
          </a:p>
        </p:txBody>
      </p:sp>
      <p:sp>
        <p:nvSpPr>
          <p:cNvPr id="51" name="tocDesc"/>
          <p:cNvSpPr txBox="1"/>
          <p:nvPr/>
        </p:nvSpPr>
        <p:spPr>
          <a:xfrm>
            <a:off x="6800850" y="2657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프로젝트 규칙 기억시키기</a:t>
            </a:r>
          </a:p>
        </p:txBody>
      </p:sp>
      <p:sp>
        <p:nvSpPr>
          <p:cNvPr id="52" name="tocBg"/>
          <p:cNvSpPr txBox="1"/>
          <p:nvPr/>
        </p:nvSpPr>
        <p:spPr>
          <a:xfrm>
            <a:off x="6248400" y="3009900"/>
            <a:ext cx="5219700" cy="723900"/>
          </a:xfrm>
          <a:prstGeom prst="rect">
            <a:avLst/>
          </a:prstGeom>
          <a:solidFill>
            <a:srgbClr val="F3E4DC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53" name="tocNo"/>
          <p:cNvSpPr txBox="1"/>
          <p:nvPr/>
        </p:nvSpPr>
        <p:spPr>
          <a:xfrm>
            <a:off x="6400800" y="3190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07</a:t>
            </a:r>
          </a:p>
        </p:txBody>
      </p:sp>
      <p:sp>
        <p:nvSpPr>
          <p:cNvPr id="54" name="tocTitle"/>
          <p:cNvSpPr txBox="1"/>
          <p:nvPr/>
        </p:nvSpPr>
        <p:spPr>
          <a:xfrm>
            <a:off x="6800850" y="3143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권한 모드 이해하기</a:t>
            </a:r>
          </a:p>
        </p:txBody>
      </p:sp>
      <p:sp>
        <p:nvSpPr>
          <p:cNvPr id="55" name="tocDesc"/>
          <p:cNvSpPr txBox="1"/>
          <p:nvPr/>
        </p:nvSpPr>
        <p:spPr>
          <a:xfrm>
            <a:off x="6800850" y="3419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Shift+Tab 4단계</a:t>
            </a:r>
          </a:p>
        </p:txBody>
      </p:sp>
      <p:sp>
        <p:nvSpPr>
          <p:cNvPr id="56" name="tocBg"/>
          <p:cNvSpPr txBox="1"/>
          <p:nvPr/>
        </p:nvSpPr>
        <p:spPr>
          <a:xfrm>
            <a:off x="6248400" y="3771900"/>
            <a:ext cx="5219700" cy="723900"/>
          </a:xfrm>
          <a:prstGeom prst="rect">
            <a:avLst/>
          </a:prstGeom>
          <a:solidFill>
            <a:srgbClr val="F3E4DC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57" name="tocNo"/>
          <p:cNvSpPr txBox="1"/>
          <p:nvPr/>
        </p:nvSpPr>
        <p:spPr>
          <a:xfrm>
            <a:off x="6400800" y="3952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08</a:t>
            </a:r>
          </a:p>
        </p:txBody>
      </p:sp>
      <p:sp>
        <p:nvSpPr>
          <p:cNvPr id="58" name="tocTitle"/>
          <p:cNvSpPr txBox="1"/>
          <p:nvPr/>
        </p:nvSpPr>
        <p:spPr>
          <a:xfrm>
            <a:off x="6800850" y="3905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플랜 모드</a:t>
            </a:r>
          </a:p>
        </p:txBody>
      </p:sp>
      <p:sp>
        <p:nvSpPr>
          <p:cNvPr id="59" name="tocDesc"/>
          <p:cNvSpPr txBox="1"/>
          <p:nvPr/>
        </p:nvSpPr>
        <p:spPr>
          <a:xfrm>
            <a:off x="6800850" y="4181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읽고 → 계획 → 승인 → 실행</a:t>
            </a:r>
          </a:p>
        </p:txBody>
      </p:sp>
      <p:sp>
        <p:nvSpPr>
          <p:cNvPr id="60" name="tocBg"/>
          <p:cNvSpPr txBox="1"/>
          <p:nvPr/>
        </p:nvSpPr>
        <p:spPr>
          <a:xfrm>
            <a:off x="6248400" y="4533900"/>
            <a:ext cx="5219700" cy="723900"/>
          </a:xfrm>
          <a:prstGeom prst="rect">
            <a:avLst/>
          </a:prstGeom>
          <a:solidFill>
            <a:srgbClr val="F3E4DC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61" name="tocNo"/>
          <p:cNvSpPr txBox="1"/>
          <p:nvPr/>
        </p:nvSpPr>
        <p:spPr>
          <a:xfrm>
            <a:off x="6400800" y="4714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09</a:t>
            </a:r>
          </a:p>
        </p:txBody>
      </p:sp>
      <p:sp>
        <p:nvSpPr>
          <p:cNvPr id="62" name="tocTitle"/>
          <p:cNvSpPr txBox="1"/>
          <p:nvPr/>
        </p:nvSpPr>
        <p:spPr>
          <a:xfrm>
            <a:off x="6800850" y="4667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컨텍스트 관리</a:t>
            </a:r>
          </a:p>
        </p:txBody>
      </p:sp>
      <p:sp>
        <p:nvSpPr>
          <p:cNvPr id="63" name="tocDesc"/>
          <p:cNvSpPr txBox="1"/>
          <p:nvPr/>
        </p:nvSpPr>
        <p:spPr>
          <a:xfrm>
            <a:off x="6800850" y="4943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/clear · /compact · 서브에이전트</a:t>
            </a:r>
          </a:p>
        </p:txBody>
      </p:sp>
      <p:sp>
        <p:nvSpPr>
          <p:cNvPr id="64" name="tocLine"/>
          <p:cNvSpPr txBox="1"/>
          <p:nvPr/>
        </p:nvSpPr>
        <p:spPr>
          <a:xfrm>
            <a:off x="6362700" y="5295900"/>
            <a:ext cx="4991100" cy="9525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65" name="tocNo"/>
          <p:cNvSpPr txBox="1"/>
          <p:nvPr/>
        </p:nvSpPr>
        <p:spPr>
          <a:xfrm>
            <a:off x="6400800" y="5476875"/>
            <a:ext cx="32385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10</a:t>
            </a:r>
          </a:p>
        </p:txBody>
      </p:sp>
      <p:sp>
        <p:nvSpPr>
          <p:cNvPr id="66" name="tocTitle"/>
          <p:cNvSpPr txBox="1"/>
          <p:nvPr/>
        </p:nvSpPr>
        <p:spPr>
          <a:xfrm>
            <a:off x="6800850" y="5429250"/>
            <a:ext cx="44196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350" b="1" i="0" spc="-2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실전 &amp; 확장</a:t>
            </a:r>
          </a:p>
        </p:txBody>
      </p:sp>
      <p:sp>
        <p:nvSpPr>
          <p:cNvPr id="67" name="tocDesc"/>
          <p:cNvSpPr txBox="1"/>
          <p:nvPr/>
        </p:nvSpPr>
        <p:spPr>
          <a:xfrm>
            <a:off x="6800850" y="5705475"/>
            <a:ext cx="44196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012" b="0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Git · 훅 · MCP · 7가지 습관</a:t>
            </a:r>
          </a:p>
        </p:txBody>
      </p:sp>
      <p:sp>
        <p:nvSpPr>
          <p:cNvPr id="68" name="pnum"/>
          <p:cNvSpPr txBox="1"/>
          <p:nvPr/>
        </p:nvSpPr>
        <p:spPr>
          <a:xfrm>
            <a:off x="10477500" y="6248400"/>
            <a:ext cx="11811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ko-KR" altLang="en-US" sz="1050" b="1" i="0" spc="70" dirty="0">
                <a:solidFill>
                  <a:srgbClr val="8A8479"/>
                </a:solidFill>
                <a:latin typeface="Consolas"/>
                <a:ea typeface="맑은 고딕"/>
                <a:cs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unhead"/>
          <p:cNvSpPr txBox="1"/>
          <p:nvPr/>
        </p:nvSpPr>
        <p:spPr>
          <a:xfrm>
            <a:off x="838200" y="361950"/>
            <a:ext cx="6096000" cy="190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75" b="1" i="0" spc="13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07</a:t>
            </a:r>
            <a:r>
              <a:rPr lang="ko-KR" altLang="en-US" sz="975" b="1" i="0" spc="130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 ／ </a:t>
            </a:r>
            <a:r>
              <a:rPr lang="ko-KR" altLang="en-US" sz="975" b="1" i="0" spc="13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권한 모드 이해하기</a:t>
            </a:r>
          </a:p>
        </p:txBody>
      </p:sp>
      <p:sp>
        <p:nvSpPr>
          <p:cNvPr id="70" name="eyeBar"/>
          <p:cNvSpPr txBox="1"/>
          <p:nvPr/>
        </p:nvSpPr>
        <p:spPr>
          <a:xfrm>
            <a:off x="838200" y="962025"/>
            <a:ext cx="247650" cy="28575"/>
          </a:xfrm>
          <a:prstGeom prst="rect">
            <a:avLst/>
          </a:prstGeom>
          <a:solidFill>
            <a:srgbClr val="C8552F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71" name="eyebrow"/>
          <p:cNvSpPr txBox="1"/>
          <p:nvPr/>
        </p:nvSpPr>
        <p:spPr>
          <a:xfrm>
            <a:off x="1181100" y="876300"/>
            <a:ext cx="30480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125" b="1" i="0" spc="135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SECTION 07</a:t>
            </a:r>
          </a:p>
        </p:txBody>
      </p:sp>
      <p:sp>
        <p:nvSpPr>
          <p:cNvPr id="72" name="title"/>
          <p:cNvSpPr txBox="1"/>
          <p:nvPr/>
        </p:nvSpPr>
        <p:spPr>
          <a:xfrm>
            <a:off x="838200" y="1181100"/>
            <a:ext cx="105156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4275"/>
              </a:lnSpc>
            </a:pPr>
            <a:r>
              <a:rPr lang="ko-KR" altLang="en-US" sz="3450" b="1" i="0" spc="-7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얼마나 맡길지, </a:t>
            </a:r>
            <a:r>
              <a:rPr lang="ko-KR" altLang="en-US" sz="3450" b="1" i="0" spc="-70" dirty="0">
                <a:solidFill>
                  <a:srgbClr val="C8552F"/>
                </a:solidFill>
                <a:latin typeface="Malgun Gothic"/>
                <a:ea typeface="맑은 고딕"/>
                <a:cs typeface="Malgun Gothic"/>
              </a:rPr>
              <a:t>Shift + Tab</a:t>
            </a:r>
            <a:r>
              <a:rPr lang="ko-KR" altLang="en-US" sz="3450" b="1" i="0" spc="-7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 한 번으로 정한다</a:t>
            </a:r>
          </a:p>
        </p:txBody>
      </p:sp>
      <p:sp>
        <p:nvSpPr>
          <p:cNvPr id="73" name="lead"/>
          <p:cNvSpPr txBox="1"/>
          <p:nvPr/>
        </p:nvSpPr>
        <p:spPr>
          <a:xfrm>
            <a:off x="838200" y="1885950"/>
            <a:ext cx="904875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2400"/>
              </a:lnSpc>
            </a:pPr>
            <a:r>
              <a:rPr lang="ko-KR" altLang="en-US" sz="1500" b="0" i="0" dirty="0">
                <a:solidFill>
                  <a:srgbClr val="4A463C"/>
                </a:solidFill>
                <a:latin typeface="Malgun Gothic"/>
                <a:ea typeface="맑은 고딕"/>
                <a:cs typeface="Malgun Gothic"/>
              </a:rPr>
              <a:t>클로드가 파일을 고치고 명령을 실행하기 전에 </a:t>
            </a:r>
            <a:r>
              <a:rPr lang="ko-KR" altLang="en-US" sz="1500" b="1" i="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어디까지 물어볼지</a:t>
            </a:r>
            <a:r>
              <a:rPr lang="ko-KR" altLang="en-US" sz="1500" b="0" i="0" dirty="0">
                <a:solidFill>
                  <a:srgbClr val="4A463C"/>
                </a:solidFill>
                <a:latin typeface="Malgun Gothic"/>
                <a:ea typeface="맑은 고딕"/>
                <a:cs typeface="Malgun Gothic"/>
              </a:rPr>
              <a:t>를 4단계로 조절합니다. 낯선 저장소일수록 왼쪽, 방향이 확실할수록 오른쪽.</a:t>
            </a:r>
          </a:p>
        </p:txBody>
      </p:sp>
      <p:sp>
        <p:nvSpPr>
          <p:cNvPr id="74" name="card"/>
          <p:cNvSpPr txBox="1"/>
          <p:nvPr/>
        </p:nvSpPr>
        <p:spPr>
          <a:xfrm>
            <a:off x="838200" y="2762250"/>
            <a:ext cx="2514600" cy="2590800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E2DCD1"/>
            </a:solidFill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75" name="cardBar"/>
          <p:cNvSpPr txBox="1"/>
          <p:nvPr/>
        </p:nvSpPr>
        <p:spPr>
          <a:xfrm>
            <a:off x="838200" y="2762250"/>
            <a:ext cx="2514600" cy="38100"/>
          </a:xfrm>
          <a:prstGeom prst="rect">
            <a:avLst/>
          </a:prstGeom>
          <a:solidFill>
            <a:srgbClr val="BDB6A8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76" name="lv"/>
          <p:cNvSpPr txBox="1"/>
          <p:nvPr/>
        </p:nvSpPr>
        <p:spPr>
          <a:xfrm>
            <a:off x="1047750" y="2990850"/>
            <a:ext cx="2095500" cy="171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00" b="1" i="0" spc="90" dirty="0">
                <a:solidFill>
                  <a:srgbClr val="8A8479"/>
                </a:solidFill>
                <a:latin typeface="Consolas"/>
                <a:ea typeface="맑은 고딕"/>
                <a:cs typeface="Consolas"/>
              </a:rPr>
              <a:t>LEVEL 1</a:t>
            </a:r>
          </a:p>
        </p:txBody>
      </p:sp>
      <p:sp>
        <p:nvSpPr>
          <p:cNvPr id="77" name="ko"/>
          <p:cNvSpPr txBox="1"/>
          <p:nvPr/>
        </p:nvSpPr>
        <p:spPr>
          <a:xfrm>
            <a:off x="1047750" y="3219450"/>
            <a:ext cx="2095500" cy="2857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500" b="1" i="0" spc="-3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기본</a:t>
            </a:r>
          </a:p>
        </p:txBody>
      </p:sp>
      <p:sp>
        <p:nvSpPr>
          <p:cNvPr id="78" name="en"/>
          <p:cNvSpPr txBox="1"/>
          <p:nvPr/>
        </p:nvSpPr>
        <p:spPr>
          <a:xfrm>
            <a:off x="1047750" y="3524250"/>
            <a:ext cx="2095500" cy="190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38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default</a:t>
            </a:r>
          </a:p>
        </p:txBody>
      </p:sp>
      <p:sp>
        <p:nvSpPr>
          <p:cNvPr id="79" name="body"/>
          <p:cNvSpPr txBox="1"/>
          <p:nvPr/>
        </p:nvSpPr>
        <p:spPr>
          <a:xfrm>
            <a:off x="1047750" y="3810000"/>
            <a:ext cx="2095500" cy="7429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1875"/>
              </a:lnSpc>
            </a:pPr>
            <a:r>
              <a:rPr lang="ko-KR" altLang="en-US" sz="1088" b="0" i="0" dirty="0">
                <a:solidFill>
                  <a:srgbClr val="4A463C"/>
                </a:solidFill>
                <a:latin typeface="Malgun Gothic"/>
                <a:ea typeface="맑은 고딕"/>
                <a:cs typeface="Malgun Gothic"/>
              </a:rPr>
              <a:t>파일 수정과 명령 실행마다 승인을 요청합니다. 매번 눈으로 확인합니다.</a:t>
            </a:r>
          </a:p>
        </p:txBody>
      </p:sp>
      <p:sp>
        <p:nvSpPr>
          <p:cNvPr id="80" name="dash"/>
          <p:cNvSpPr txBox="1"/>
          <p:nvPr/>
        </p:nvSpPr>
        <p:spPr>
          <a:xfrm>
            <a:off x="1047750" y="4629150"/>
            <a:ext cx="2095500" cy="0"/>
          </a:xfrm>
          <a:prstGeom prst="line">
            <a:avLst/>
          </a:prstGeom>
          <a:noFill/>
          <a:ln w="9525" cap="flat">
            <a:solidFill>
              <a:srgbClr val="E2DCD1"/>
            </a:solidFill>
            <a:prstDash val="dash"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81" name="whenLabel"/>
          <p:cNvSpPr txBox="1"/>
          <p:nvPr/>
        </p:nvSpPr>
        <p:spPr>
          <a:xfrm>
            <a:off x="1047750" y="4724400"/>
            <a:ext cx="20955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825" b="1" i="0" spc="11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WHEN</a:t>
            </a:r>
          </a:p>
        </p:txBody>
      </p:sp>
      <p:sp>
        <p:nvSpPr>
          <p:cNvPr id="82" name="when"/>
          <p:cNvSpPr txBox="1"/>
          <p:nvPr/>
        </p:nvSpPr>
        <p:spPr>
          <a:xfrm>
            <a:off x="1047750" y="4895850"/>
            <a:ext cx="20955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75" b="1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처음 배울 때·낯선 저장소</a:t>
            </a:r>
          </a:p>
        </p:txBody>
      </p:sp>
      <p:sp>
        <p:nvSpPr>
          <p:cNvPr id="83" name="card"/>
          <p:cNvSpPr txBox="1"/>
          <p:nvPr/>
        </p:nvSpPr>
        <p:spPr>
          <a:xfrm>
            <a:off x="3505200" y="2762250"/>
            <a:ext cx="2514600" cy="2590800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E2DCD1"/>
            </a:solidFill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84" name="cardBar"/>
          <p:cNvSpPr txBox="1"/>
          <p:nvPr/>
        </p:nvSpPr>
        <p:spPr>
          <a:xfrm>
            <a:off x="3505200" y="2762250"/>
            <a:ext cx="2514600" cy="38100"/>
          </a:xfrm>
          <a:prstGeom prst="rect">
            <a:avLst/>
          </a:prstGeom>
          <a:solidFill>
            <a:srgbClr val="D9A85C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85" name="lv"/>
          <p:cNvSpPr txBox="1"/>
          <p:nvPr/>
        </p:nvSpPr>
        <p:spPr>
          <a:xfrm>
            <a:off x="3714750" y="2990850"/>
            <a:ext cx="2095500" cy="171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00" b="1" i="0" spc="90" dirty="0">
                <a:solidFill>
                  <a:srgbClr val="8A8479"/>
                </a:solidFill>
                <a:latin typeface="Consolas"/>
                <a:ea typeface="맑은 고딕"/>
                <a:cs typeface="Consolas"/>
              </a:rPr>
              <a:t>LEVEL 2</a:t>
            </a:r>
          </a:p>
        </p:txBody>
      </p:sp>
      <p:sp>
        <p:nvSpPr>
          <p:cNvPr id="86" name="ko"/>
          <p:cNvSpPr txBox="1"/>
          <p:nvPr/>
        </p:nvSpPr>
        <p:spPr>
          <a:xfrm>
            <a:off x="3714750" y="3219450"/>
            <a:ext cx="2095500" cy="2857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500" b="1" i="0" spc="-3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자동 수락</a:t>
            </a:r>
          </a:p>
        </p:txBody>
      </p:sp>
      <p:sp>
        <p:nvSpPr>
          <p:cNvPr id="87" name="en"/>
          <p:cNvSpPr txBox="1"/>
          <p:nvPr/>
        </p:nvSpPr>
        <p:spPr>
          <a:xfrm>
            <a:off x="3714750" y="3524250"/>
            <a:ext cx="2095500" cy="190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38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acceptEdits</a:t>
            </a:r>
          </a:p>
        </p:txBody>
      </p:sp>
      <p:sp>
        <p:nvSpPr>
          <p:cNvPr id="88" name="body"/>
          <p:cNvSpPr txBox="1"/>
          <p:nvPr/>
        </p:nvSpPr>
        <p:spPr>
          <a:xfrm>
            <a:off x="3714750" y="3810000"/>
            <a:ext cx="2095500" cy="7429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1875"/>
              </a:lnSpc>
            </a:pPr>
            <a:r>
              <a:rPr lang="ko-KR" altLang="en-US" sz="1088" b="0" i="0" dirty="0">
                <a:solidFill>
                  <a:srgbClr val="4A463C"/>
                </a:solidFill>
                <a:latin typeface="Malgun Gothic"/>
                <a:ea typeface="맑은 고딕"/>
                <a:cs typeface="Malgun Gothic"/>
              </a:rPr>
              <a:t>파일 수정은 묻지 않고 진행합니다. 명령 실행은 여전히 확인을 거칩니다.</a:t>
            </a:r>
          </a:p>
        </p:txBody>
      </p:sp>
      <p:sp>
        <p:nvSpPr>
          <p:cNvPr id="89" name="dash"/>
          <p:cNvSpPr txBox="1"/>
          <p:nvPr/>
        </p:nvSpPr>
        <p:spPr>
          <a:xfrm>
            <a:off x="3714750" y="4629150"/>
            <a:ext cx="2095500" cy="0"/>
          </a:xfrm>
          <a:prstGeom prst="line">
            <a:avLst/>
          </a:prstGeom>
          <a:noFill/>
          <a:ln w="9525" cap="flat">
            <a:solidFill>
              <a:srgbClr val="E2DCD1"/>
            </a:solidFill>
            <a:prstDash val="dash"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90" name="whenLabel"/>
          <p:cNvSpPr txBox="1"/>
          <p:nvPr/>
        </p:nvSpPr>
        <p:spPr>
          <a:xfrm>
            <a:off x="3714750" y="4724400"/>
            <a:ext cx="20955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825" b="1" i="0" spc="11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WHEN</a:t>
            </a:r>
          </a:p>
        </p:txBody>
      </p:sp>
      <p:sp>
        <p:nvSpPr>
          <p:cNvPr id="91" name="when"/>
          <p:cNvSpPr txBox="1"/>
          <p:nvPr/>
        </p:nvSpPr>
        <p:spPr>
          <a:xfrm>
            <a:off x="3714750" y="4895850"/>
            <a:ext cx="20955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75" b="1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방향이 확실한 반복 작업</a:t>
            </a:r>
          </a:p>
        </p:txBody>
      </p:sp>
      <p:sp>
        <p:nvSpPr>
          <p:cNvPr id="92" name="card"/>
          <p:cNvSpPr txBox="1"/>
          <p:nvPr/>
        </p:nvSpPr>
        <p:spPr>
          <a:xfrm>
            <a:off x="6172200" y="2762250"/>
            <a:ext cx="2514600" cy="2590800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E2DCD1"/>
            </a:solidFill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93" name="cardBar"/>
          <p:cNvSpPr txBox="1"/>
          <p:nvPr/>
        </p:nvSpPr>
        <p:spPr>
          <a:xfrm>
            <a:off x="6172200" y="2762250"/>
            <a:ext cx="2514600" cy="38100"/>
          </a:xfrm>
          <a:prstGeom prst="rect">
            <a:avLst/>
          </a:prstGeom>
          <a:solidFill>
            <a:srgbClr val="5C8DB8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94" name="lv"/>
          <p:cNvSpPr txBox="1"/>
          <p:nvPr/>
        </p:nvSpPr>
        <p:spPr>
          <a:xfrm>
            <a:off x="6381750" y="2990850"/>
            <a:ext cx="2095500" cy="171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00" b="1" i="0" spc="90" dirty="0">
                <a:solidFill>
                  <a:srgbClr val="8A8479"/>
                </a:solidFill>
                <a:latin typeface="Consolas"/>
                <a:ea typeface="맑은 고딕"/>
                <a:cs typeface="Consolas"/>
              </a:rPr>
              <a:t>LEVEL 3</a:t>
            </a:r>
          </a:p>
        </p:txBody>
      </p:sp>
      <p:sp>
        <p:nvSpPr>
          <p:cNvPr id="95" name="ko"/>
          <p:cNvSpPr txBox="1"/>
          <p:nvPr/>
        </p:nvSpPr>
        <p:spPr>
          <a:xfrm>
            <a:off x="6381750" y="3219450"/>
            <a:ext cx="2095500" cy="2857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500" b="1" i="0" spc="-3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플랜</a:t>
            </a:r>
          </a:p>
        </p:txBody>
      </p:sp>
      <p:sp>
        <p:nvSpPr>
          <p:cNvPr id="96" name="en"/>
          <p:cNvSpPr txBox="1"/>
          <p:nvPr/>
        </p:nvSpPr>
        <p:spPr>
          <a:xfrm>
            <a:off x="6381750" y="3524250"/>
            <a:ext cx="2095500" cy="190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38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plan</a:t>
            </a:r>
          </a:p>
        </p:txBody>
      </p:sp>
      <p:sp>
        <p:nvSpPr>
          <p:cNvPr id="97" name="body"/>
          <p:cNvSpPr txBox="1"/>
          <p:nvPr/>
        </p:nvSpPr>
        <p:spPr>
          <a:xfrm>
            <a:off x="6381750" y="3810000"/>
            <a:ext cx="2095500" cy="7429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1875"/>
              </a:lnSpc>
            </a:pPr>
            <a:r>
              <a:rPr lang="ko-KR" altLang="en-US" sz="1088" b="0" i="0" dirty="0">
                <a:solidFill>
                  <a:srgbClr val="4A463C"/>
                </a:solidFill>
                <a:latin typeface="Malgun Gothic"/>
                <a:ea typeface="맑은 고딕"/>
                <a:cs typeface="Malgun Gothic"/>
              </a:rPr>
              <a:t>코드를 읽기만 하고 단계별 계획을 제시합니다. 승인해야 비로소 실행합니다.</a:t>
            </a:r>
          </a:p>
        </p:txBody>
      </p:sp>
      <p:sp>
        <p:nvSpPr>
          <p:cNvPr id="98" name="dash"/>
          <p:cNvSpPr txBox="1"/>
          <p:nvPr/>
        </p:nvSpPr>
        <p:spPr>
          <a:xfrm>
            <a:off x="6381750" y="4629150"/>
            <a:ext cx="2095500" cy="0"/>
          </a:xfrm>
          <a:prstGeom prst="line">
            <a:avLst/>
          </a:prstGeom>
          <a:noFill/>
          <a:ln w="9525" cap="flat">
            <a:solidFill>
              <a:srgbClr val="E2DCD1"/>
            </a:solidFill>
            <a:prstDash val="dash"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99" name="whenLabel"/>
          <p:cNvSpPr txBox="1"/>
          <p:nvPr/>
        </p:nvSpPr>
        <p:spPr>
          <a:xfrm>
            <a:off x="6381750" y="4724400"/>
            <a:ext cx="20955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825" b="1" i="0" spc="11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WHEN</a:t>
            </a:r>
          </a:p>
        </p:txBody>
      </p:sp>
      <p:sp>
        <p:nvSpPr>
          <p:cNvPr id="100" name="when"/>
          <p:cNvSpPr txBox="1"/>
          <p:nvPr/>
        </p:nvSpPr>
        <p:spPr>
          <a:xfrm>
            <a:off x="6381750" y="4895850"/>
            <a:ext cx="20955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75" b="1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큰 작업을 시작하기 전</a:t>
            </a:r>
          </a:p>
        </p:txBody>
      </p:sp>
      <p:sp>
        <p:nvSpPr>
          <p:cNvPr id="101" name="card"/>
          <p:cNvSpPr txBox="1"/>
          <p:nvPr/>
        </p:nvSpPr>
        <p:spPr>
          <a:xfrm>
            <a:off x="8839200" y="2762250"/>
            <a:ext cx="2514600" cy="2590800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E2DCD1"/>
            </a:solidFill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102" name="cardBar"/>
          <p:cNvSpPr txBox="1"/>
          <p:nvPr/>
        </p:nvSpPr>
        <p:spPr>
          <a:xfrm>
            <a:off x="8839200" y="2762250"/>
            <a:ext cx="2514600" cy="38100"/>
          </a:xfrm>
          <a:prstGeom prst="rect">
            <a:avLst/>
          </a:prstGeom>
          <a:solidFill>
            <a:srgbClr val="C8552F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103" name="lv"/>
          <p:cNvSpPr txBox="1"/>
          <p:nvPr/>
        </p:nvSpPr>
        <p:spPr>
          <a:xfrm>
            <a:off x="9048750" y="2990850"/>
            <a:ext cx="2095500" cy="171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00" b="1" i="0" spc="90" dirty="0">
                <a:solidFill>
                  <a:srgbClr val="8A8479"/>
                </a:solidFill>
                <a:latin typeface="Consolas"/>
                <a:ea typeface="맑은 고딕"/>
                <a:cs typeface="Consolas"/>
              </a:rPr>
              <a:t>LEVEL 4</a:t>
            </a:r>
          </a:p>
        </p:txBody>
      </p:sp>
      <p:sp>
        <p:nvSpPr>
          <p:cNvPr id="104" name="ko"/>
          <p:cNvSpPr txBox="1"/>
          <p:nvPr/>
        </p:nvSpPr>
        <p:spPr>
          <a:xfrm>
            <a:off x="9048750" y="3219450"/>
            <a:ext cx="2095500" cy="2857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1500" b="1" i="0" spc="-30" dirty="0">
                <a:solidFill>
                  <a:srgbClr val="17150F"/>
                </a:solidFill>
                <a:latin typeface="Malgun Gothic"/>
                <a:ea typeface="맑은 고딕"/>
                <a:cs typeface="Malgun Gothic"/>
              </a:rPr>
              <a:t>전체 자동</a:t>
            </a:r>
          </a:p>
        </p:txBody>
      </p:sp>
      <p:sp>
        <p:nvSpPr>
          <p:cNvPr id="105" name="en"/>
          <p:cNvSpPr txBox="1"/>
          <p:nvPr/>
        </p:nvSpPr>
        <p:spPr>
          <a:xfrm>
            <a:off x="9048750" y="3524250"/>
            <a:ext cx="2095500" cy="190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38" b="1" i="0" dirty="0">
                <a:solidFill>
                  <a:srgbClr val="C8552F"/>
                </a:solidFill>
                <a:latin typeface="Consolas"/>
                <a:ea typeface="맑은 고딕"/>
                <a:cs typeface="Consolas"/>
              </a:rPr>
              <a:t>bypassPermissions</a:t>
            </a:r>
          </a:p>
        </p:txBody>
      </p:sp>
      <p:sp>
        <p:nvSpPr>
          <p:cNvPr id="106" name="body"/>
          <p:cNvSpPr txBox="1"/>
          <p:nvPr/>
        </p:nvSpPr>
        <p:spPr>
          <a:xfrm>
            <a:off x="9048750" y="3810000"/>
            <a:ext cx="2095500" cy="7429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1875"/>
              </a:lnSpc>
            </a:pPr>
            <a:r>
              <a:rPr lang="ko-KR" altLang="en-US" sz="1088" b="0" i="0" dirty="0">
                <a:solidFill>
                  <a:srgbClr val="4A463C"/>
                </a:solidFill>
                <a:latin typeface="Malgun Gothic"/>
                <a:ea typeface="맑은 고딕"/>
                <a:cs typeface="Malgun Gothic"/>
              </a:rPr>
              <a:t>모든 동작을 승인 없이 실행합니다. 되돌릴 수 없는 명령까지 그대로 나갑니다.</a:t>
            </a:r>
          </a:p>
        </p:txBody>
      </p:sp>
      <p:sp>
        <p:nvSpPr>
          <p:cNvPr id="107" name="dash"/>
          <p:cNvSpPr txBox="1"/>
          <p:nvPr/>
        </p:nvSpPr>
        <p:spPr>
          <a:xfrm>
            <a:off x="9048750" y="4629150"/>
            <a:ext cx="2095500" cy="0"/>
          </a:xfrm>
          <a:prstGeom prst="line">
            <a:avLst/>
          </a:prstGeom>
          <a:noFill/>
          <a:ln w="9525" cap="flat">
            <a:solidFill>
              <a:srgbClr val="E2DCD1"/>
            </a:solidFill>
            <a:prstDash val="dash"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108" name="whenLabel"/>
          <p:cNvSpPr txBox="1"/>
          <p:nvPr/>
        </p:nvSpPr>
        <p:spPr>
          <a:xfrm>
            <a:off x="9048750" y="4724400"/>
            <a:ext cx="20955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825" b="1" i="0" spc="11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WHEN</a:t>
            </a:r>
          </a:p>
        </p:txBody>
      </p:sp>
      <p:sp>
        <p:nvSpPr>
          <p:cNvPr id="109" name="when"/>
          <p:cNvSpPr txBox="1"/>
          <p:nvPr/>
        </p:nvSpPr>
        <p:spPr>
          <a:xfrm>
            <a:off x="9048750" y="4895850"/>
            <a:ext cx="20955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ko-KR" altLang="en-US" sz="975" b="1" i="0" dirty="0">
                <a:solidFill>
                  <a:srgbClr val="8A8479"/>
                </a:solidFill>
                <a:latin typeface="Malgun Gothic"/>
                <a:ea typeface="맑은 고딕"/>
                <a:cs typeface="Malgun Gothic"/>
              </a:rPr>
              <a:t>격리된 컨테이너 안에서만</a:t>
            </a:r>
          </a:p>
        </p:txBody>
      </p:sp>
      <p:sp>
        <p:nvSpPr>
          <p:cNvPr id="110" name="callout"/>
          <p:cNvSpPr txBox="1"/>
          <p:nvPr/>
        </p:nvSpPr>
        <p:spPr>
          <a:xfrm>
            <a:off x="838200" y="5581650"/>
            <a:ext cx="10515600" cy="666750"/>
          </a:xfrm>
          <a:prstGeom prst="rect">
            <a:avLst/>
          </a:prstGeom>
          <a:solidFill>
            <a:srgbClr val="1A1813"/>
          </a:solidFill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/>
            <a:endParaRPr lang="ko-KR"/>
          </a:p>
        </p:txBody>
      </p:sp>
      <p:sp>
        <p:nvSpPr>
          <p:cNvPr id="111" name="mark"/>
          <p:cNvSpPr txBox="1"/>
          <p:nvPr/>
        </p:nvSpPr>
        <p:spPr>
          <a:xfrm>
            <a:off x="1085850" y="5772150"/>
            <a:ext cx="285750" cy="285750"/>
          </a:xfrm>
          <a:prstGeom prst="ellipse">
            <a:avLst/>
          </a:prstGeom>
          <a:solidFill>
            <a:srgbClr val="C8552F"/>
          </a:solidFill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ko-KR" altLang="en-US" sz="1275" b="1" i="0" dirty="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!</a:t>
            </a:r>
          </a:p>
        </p:txBody>
      </p:sp>
      <p:sp>
        <p:nvSpPr>
          <p:cNvPr id="112" name="calloutTx"/>
          <p:cNvSpPr txBox="1"/>
          <p:nvPr/>
        </p:nvSpPr>
        <p:spPr>
          <a:xfrm>
            <a:off x="1543050" y="5581650"/>
            <a:ext cx="958215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ts val="1875"/>
              </a:lnSpc>
            </a:pPr>
            <a:r>
              <a:rPr lang="ko-KR" altLang="en-US" sz="1162" b="1" i="0" dirty="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귀찮다고 모드를 올리지 말고 </a:t>
            </a:r>
            <a:r>
              <a:rPr lang="ko-KR" altLang="en-US" sz="1050" b="1" i="0" dirty="0">
                <a:solidFill>
                  <a:srgbClr val="E8A98E"/>
                </a:solidFill>
                <a:latin typeface="Consolas"/>
                <a:ea typeface="맑은 고딕"/>
                <a:cs typeface="Consolas"/>
              </a:rPr>
              <a:t>/permissions</a:t>
            </a:r>
            <a:r>
              <a:rPr lang="ko-KR" altLang="en-US" sz="1162" b="1" i="0" dirty="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를 쓰세요. </a:t>
            </a:r>
            <a:r>
              <a:rPr lang="ko-KR" altLang="en-US" sz="1050" b="0" i="0" dirty="0">
                <a:solidFill>
                  <a:srgbClr val="E8A98E"/>
                </a:solidFill>
                <a:latin typeface="Consolas"/>
                <a:ea typeface="맑은 고딕"/>
                <a:cs typeface="Consolas"/>
              </a:rPr>
              <a:t>Bash(npm test:*)</a:t>
            </a:r>
            <a:r>
              <a:rPr lang="ko-KR" altLang="en-US" sz="1162" b="0" i="0" dirty="0">
                <a:solidFill>
                  <a:srgbClr val="EFE9DF"/>
                </a:solidFill>
                <a:latin typeface="Malgun Gothic"/>
                <a:ea typeface="맑은 고딕"/>
                <a:cs typeface="Malgun Gothic"/>
              </a:rPr>
              <a:t>처럼 안전한 명령만 허용 목록에 넣는 편이 훨씬 낫습니다.</a:t>
            </a:r>
          </a:p>
        </p:txBody>
      </p:sp>
      <p:sp>
        <p:nvSpPr>
          <p:cNvPr id="113" name="pnum"/>
          <p:cNvSpPr txBox="1"/>
          <p:nvPr/>
        </p:nvSpPr>
        <p:spPr>
          <a:xfrm>
            <a:off x="10477500" y="6248400"/>
            <a:ext cx="1181100" cy="209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ko-KR" altLang="en-US" sz="1050" b="1" i="0" spc="70" dirty="0">
                <a:solidFill>
                  <a:srgbClr val="8A8479"/>
                </a:solidFill>
                <a:latin typeface="Consolas"/>
                <a:ea typeface="맑은 고딕"/>
                <a:cs typeface="Consola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CodeDeck">
  <a:themeElements>
    <a:clrScheme name="ClaudeCode">
      <a:dk1>
        <a:sysClr val="windowText" lastClr="000000"/>
      </a:dk1>
      <a:lt1>
        <a:sysClr val="window" lastClr="FFFFFF"/>
      </a:lt1>
      <a:dk2>
        <a:srgbClr val="17150F"/>
      </a:dk2>
      <a:lt2>
        <a:srgbClr val="FAF8F4"/>
      </a:lt2>
      <a:accent1>
        <a:srgbClr val="C8552F"/>
      </a:accent1>
      <a:accent2>
        <a:srgbClr val="D9A85C"/>
      </a:accent2>
      <a:accent3>
        <a:srgbClr val="5C8DB8"/>
      </a:accent3>
      <a:accent4>
        <a:srgbClr val="BDB6A8"/>
      </a:accent4>
      <a:accent5>
        <a:srgbClr val="8FAF6E"/>
      </a:accent5>
      <a:accent6>
        <a:srgbClr val="7E7768"/>
      </a:accent6>
      <a:hlink>
        <a:srgbClr val="C8552F"/>
      </a:hlink>
      <a:folHlink>
        <a:srgbClr val="8A8479"/>
      </a:folHlink>
    </a:clrScheme>
    <a:fontScheme name="Malgun">
      <a:majorFont>
        <a:latin typeface="Malgun Gothic"/>
        <a:ea typeface="맑은 고딕"/>
        <a:cs typeface=""/>
      </a:majorFont>
      <a:minorFont>
        <a:latin typeface="Malgun Gothic"/>
        <a:ea typeface="맑은 고딕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PresentationFormat>와이드스크린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클로드 코드 입문자 가이드북 — 샘플</dc:title>
  <dc:creator>Claude Code</dc:creator>
  <cp:lastModifiedBy>Claude Code</cp:lastModifiedBy>
</cp:coreProperties>
</file>